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-594360"/>
            <a:ext cx="4023360" cy="4023360"/>
          </a:xfrm>
          <a:prstGeom prst="ellipse">
            <a:avLst/>
          </a:prstGeom>
          <a:solidFill>
            <a:srgbClr val="235BA0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3383280"/>
            <a:ext cx="3200400" cy="3200400"/>
          </a:xfrm>
          <a:prstGeom prst="ellipse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1874519"/>
            <a:ext cx="1508760" cy="1508760"/>
          </a:xfrm>
          <a:prstGeom prst="ellipse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5303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7DDCD6"/>
                </a:solidFill>
                <a:latin typeface="Aptos"/>
              </a:defRPr>
            </a:pPr>
            <a:r>
              <a:t>TASK 2  |  CYBER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2240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PHISHING</a:t>
            </a:r>
            <a:br/>
            <a:r>
              <a:t>AWARENESS</a:t>
            </a:r>
            <a:br/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886200"/>
            <a:ext cx="6583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DCE6F2"/>
                </a:solidFill>
                <a:latin typeface="Aptos"/>
              </a:defRPr>
            </a:pPr>
            <a:r>
              <a:t>Spot the warning signs. Pause before you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983480"/>
            <a:ext cx="3017520" cy="566928"/>
          </a:xfrm>
          <a:prstGeom prst="round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129784"/>
            <a:ext cx="27432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LEARN  •  CHECK  •  PROTECT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6199632"/>
            <a:ext cx="58521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BECCDC"/>
                </a:solidFill>
                <a:latin typeface="Aptos"/>
              </a:defRPr>
            </a:pPr>
            <a:r>
              <a:t>Prepared for awareness and safe online habits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What we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000" b="0">
                <a:solidFill>
                  <a:srgbClr val="26303F"/>
                </a:solidFill>
                <a:latin typeface="Aptos"/>
              </a:defRPr>
            </a:pPr>
            <a:r>
              <a:t>By the end of this session, you should be able 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73152" cy="2103120"/>
          </a:xfrm>
          <a:prstGeom prst="rect">
            <a:avLst/>
          </a:prstGeom>
          <a:solidFill>
            <a:srgbClr val="235BA0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9514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32340"/>
                </a:solidFill>
                <a:latin typeface="Aptos"/>
              </a:defRPr>
            </a:pPr>
            <a:r>
              <a:t>01  Recognize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3063240" cy="1389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Identify suspicious emails, messages and website links.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4884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148840"/>
            <a:ext cx="73152" cy="2103120"/>
          </a:xfrm>
          <a:prstGeom prst="rect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29514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32340"/>
                </a:solidFill>
                <a:latin typeface="Aptos"/>
              </a:defRPr>
            </a:pPr>
            <a:r>
              <a:t>02 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52344"/>
            <a:ext cx="3063240" cy="1389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Explain how social engineering pressures people into acting.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4884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148840"/>
            <a:ext cx="73152" cy="2103120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29514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132340"/>
                </a:solidFill>
                <a:latin typeface="Aptos"/>
              </a:defRPr>
            </a:pPr>
            <a:r>
              <a:t>03  Respond safely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752344"/>
            <a:ext cx="3063240" cy="13898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Use simple checks before sharing information or opening files.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000" b="1">
                <a:solidFill>
                  <a:srgbClr val="132340"/>
                </a:solidFill>
                <a:latin typeface="Aptos"/>
              </a:defRPr>
            </a:pPr>
            <a:r>
              <a:t>Main idea: phishing often works by creating urgency, trust or curiosity.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What is phishing?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02 •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9224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100" b="0">
                <a:solidFill>
                  <a:srgbClr val="26303F"/>
                </a:solidFill>
                <a:latin typeface="Aptos"/>
              </a:defRPr>
            </a:pPr>
            <a:r>
              <a:t>Phishing is a type of cyberattack in which someone pretends to be a trusted person or organization to trick people into revealing information, sending money, or opening harmful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1732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417320"/>
            <a:ext cx="73152" cy="1188720"/>
          </a:xfrm>
          <a:prstGeom prst="rect">
            <a:avLst/>
          </a:prstGeom>
          <a:solidFill>
            <a:srgbClr val="C44343"/>
          </a:solidFill>
          <a:ln>
            <a:solidFill>
              <a:srgbClr val="C4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7848" y="1563624"/>
            <a:ext cx="31729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Passwords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020824"/>
            <a:ext cx="3154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Attackers may try to steal account login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2788920"/>
            <a:ext cx="73152" cy="1188720"/>
          </a:xfrm>
          <a:prstGeom prst="rect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2935224"/>
            <a:ext cx="31729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392424"/>
            <a:ext cx="3154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Fake payment requests can lead to financial loss.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16052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4160520"/>
            <a:ext cx="73152" cy="1188720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4306824"/>
            <a:ext cx="31729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Personal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4764024"/>
            <a:ext cx="31546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Messages may ask for OTPs, identity details or bank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64008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235BA0"/>
                </a:solidFill>
                <a:latin typeface="Aptos"/>
              </a:defRPr>
            </a:pPr>
            <a:r>
              <a:t>Phishing can arrive by email, SMS, social media, phone call or messaging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How to spot a phishing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03 • EMAIL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98448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58064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1">
                <a:solidFill>
                  <a:srgbClr val="C44343"/>
                </a:solidFill>
                <a:latin typeface="Aptos"/>
              </a:defRPr>
            </a:pPr>
            <a:r>
              <a:t>EXAMPLE: “Your account will be blocked today!”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715000" cy="2423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From: Security Team &lt;secure-alerts@acc0unt-help.example&gt;</a:t>
            </a:r>
            <a:br/>
            <a:br/>
            <a:r>
              <a:t>Hello user,</a:t>
            </a:r>
            <a:br/>
            <a:br/>
            <a:r>
              <a:t>We detected a problem. Verify your password and OTP within 30 minutes using the link below or your account will be closed.</a:t>
            </a:r>
            <a:br/>
            <a:br/>
            <a:r>
              <a:t>[ VERIFY ACCOUNT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66360"/>
            <a:ext cx="5577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100" b="0">
                <a:solidFill>
                  <a:srgbClr val="5C697A"/>
                </a:solidFill>
                <a:latin typeface="Aptos"/>
              </a:defRPr>
            </a:pPr>
            <a:r>
              <a:t>Training example — do not use real login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41732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417320"/>
            <a:ext cx="73152" cy="914400"/>
          </a:xfrm>
          <a:prstGeom prst="rect">
            <a:avLst/>
          </a:prstGeom>
          <a:solidFill>
            <a:srgbClr val="C44343"/>
          </a:solidFill>
          <a:ln>
            <a:solidFill>
              <a:srgbClr val="C4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563624"/>
            <a:ext cx="34015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340"/>
                </a:solidFill>
                <a:latin typeface="Aptos"/>
              </a:defRPr>
            </a:pPr>
            <a:r>
              <a:t>Urgency or threats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2020824"/>
            <a:ext cx="3383279" cy="2011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3F"/>
                </a:solidFill>
                <a:latin typeface="Aptos"/>
              </a:defRPr>
            </a:pPr>
            <a:r>
              <a:t>“Act now” or “account closed”.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51460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2514600"/>
            <a:ext cx="73152" cy="914400"/>
          </a:xfrm>
          <a:prstGeom prst="rect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2660904"/>
            <a:ext cx="34015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340"/>
                </a:solidFill>
                <a:latin typeface="Aptos"/>
              </a:defRPr>
            </a:pPr>
            <a:r>
              <a:t>Odd sender address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3118104"/>
            <a:ext cx="3383279" cy="2011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3F"/>
                </a:solidFill>
                <a:latin typeface="Aptos"/>
              </a:defRPr>
            </a:pPr>
            <a:r>
              <a:t>Look for misspellings or extra characters.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61188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3611880"/>
            <a:ext cx="73152" cy="914400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3758184"/>
            <a:ext cx="34015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340"/>
                </a:solidFill>
                <a:latin typeface="Aptos"/>
              </a:defRPr>
            </a:pPr>
            <a:r>
              <a:t>Sensitive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4215384"/>
            <a:ext cx="3383279" cy="2011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3F"/>
                </a:solidFill>
                <a:latin typeface="Aptos"/>
              </a:defRPr>
            </a:pPr>
            <a:r>
              <a:t>Legitimate teams should not ask for your password or OTP by email.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70916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43800" y="4709160"/>
            <a:ext cx="73152" cy="914400"/>
          </a:xfrm>
          <a:prstGeom prst="rect">
            <a:avLst/>
          </a:prstGeom>
          <a:solidFill>
            <a:srgbClr val="235BA0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8" y="4855464"/>
            <a:ext cx="34015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340"/>
                </a:solidFill>
                <a:latin typeface="Aptos"/>
              </a:defRPr>
            </a:pPr>
            <a:r>
              <a:t>Unexpected attachment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5312664"/>
            <a:ext cx="3383279" cy="2011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3F"/>
                </a:solidFill>
                <a:latin typeface="Aptos"/>
              </a:defRPr>
            </a:pPr>
            <a:r>
              <a:t>Be careful with unknown files or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How to recognize a fake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04 • LINK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F"/>
                </a:solidFill>
                <a:latin typeface="Aptos"/>
              </a:defRPr>
            </a:pPr>
            <a:r>
              <a:t>Before entering a password, payment details or personal information: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73152" cy="1234440"/>
          </a:xfrm>
          <a:prstGeom prst="rect">
            <a:avLst/>
          </a:prstGeom>
          <a:solidFill>
            <a:srgbClr val="235BA0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12264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Read the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69464"/>
            <a:ext cx="480060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Check the spelling carefully. Example: paypaI.example may use a capital “I” instead of “l”.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73152" cy="1234440"/>
          </a:xfrm>
          <a:prstGeom prst="rect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112264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Beware of look-alikes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569464"/>
            <a:ext cx="480060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Extra words, unusual endings or swapped letters can be warning signs.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66160"/>
            <a:ext cx="73152" cy="1234440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712463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HTTPS is not enough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169663"/>
            <a:ext cx="480060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A padlock means the connection is encrypted; it does not prove the site is genuine.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566160"/>
            <a:ext cx="73152" cy="1234440"/>
          </a:xfrm>
          <a:prstGeom prst="rect">
            <a:avLst/>
          </a:prstGeom>
          <a:solidFill>
            <a:srgbClr val="27875C"/>
          </a:solidFill>
          <a:ln>
            <a:solidFill>
              <a:srgbClr val="27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712463"/>
            <a:ext cx="48188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Open the site yourself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169663"/>
            <a:ext cx="480060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Use a saved bookmark or type the official address instead of following a message link.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10149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800" b="1">
                <a:solidFill>
                  <a:srgbClr val="132340"/>
                </a:solidFill>
                <a:latin typeface="Aptos"/>
              </a:defRPr>
            </a:pPr>
            <a:r>
              <a:t>If a page feels wrong, close it and verify through an official channel.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Social engineering: the human trick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05 • TACTICS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900" b="0">
                <a:solidFill>
                  <a:srgbClr val="26303F"/>
                </a:solidFill>
                <a:latin typeface="Aptos"/>
              </a:defRPr>
            </a:pPr>
            <a:r>
              <a:t>Attackers often manipulate emotions and habits instead of breaking technology.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73152" cy="1234440"/>
          </a:xfrm>
          <a:prstGeom prst="rect">
            <a:avLst/>
          </a:prstGeom>
          <a:solidFill>
            <a:srgbClr val="C44343"/>
          </a:solidFill>
          <a:ln>
            <a:solidFill>
              <a:srgbClr val="C4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5798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15184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“Pay in the next 10 minutes.”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011680"/>
            <a:ext cx="73152" cy="1234440"/>
          </a:xfrm>
          <a:prstGeom prst="rect">
            <a:avLst/>
          </a:prstGeom>
          <a:solidFill>
            <a:srgbClr val="235BA0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15798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615184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“I’m your manager — send the file.”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0116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2011680"/>
            <a:ext cx="73152" cy="1234440"/>
          </a:xfrm>
          <a:prstGeom prst="rect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15798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Fear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615184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“Your account has been compromised.”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611880"/>
            <a:ext cx="73152" cy="1234440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75818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Reward / curiosity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215384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“You won a prize — open this link.”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611880"/>
            <a:ext cx="73152" cy="1234440"/>
          </a:xfrm>
          <a:prstGeom prst="rect">
            <a:avLst/>
          </a:prstGeom>
          <a:solidFill>
            <a:srgbClr val="27875C"/>
          </a:solidFill>
          <a:ln>
            <a:solidFill>
              <a:srgbClr val="27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5818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Impersonation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215384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A message pretends to come from a friend, bank or delivery company.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611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611880"/>
            <a:ext cx="73152" cy="1234440"/>
          </a:xfrm>
          <a:prstGeom prst="rect">
            <a:avLst/>
          </a:prstGeom>
          <a:solidFill>
            <a:srgbClr val="C44343"/>
          </a:solidFill>
          <a:ln>
            <a:solidFill>
              <a:srgbClr val="C4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758184"/>
            <a:ext cx="30815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MFA / OTP trick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215384"/>
            <a:ext cx="306324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Someone asks you to read out or approve a sign-in code you did not request.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800" b="1">
                <a:solidFill>
                  <a:srgbClr val="132340"/>
                </a:solidFill>
                <a:latin typeface="Aptos"/>
              </a:defRPr>
            </a:pPr>
            <a:r>
              <a:t>Pause when a message makes you feel rushed, scared or unusually excited.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Real-world style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06 •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49103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Example A — Delivery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489204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3F"/>
                </a:solidFill>
                <a:latin typeface="Aptos"/>
              </a:defRPr>
            </a:pPr>
            <a:r>
              <a:t>“Your parcel is on hold. Pay a small fee now.” The link opens an unfamiliar page asking for card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828800"/>
          </a:xfrm>
          <a:prstGeom prst="rect">
            <a:avLst/>
          </a:prstGeom>
          <a:solidFill>
            <a:srgbClr val="C44343"/>
          </a:solidFill>
          <a:ln>
            <a:solidFill>
              <a:srgbClr val="C4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63624"/>
            <a:ext cx="49103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Example B — Workplace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20824"/>
            <a:ext cx="489204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3F"/>
                </a:solidFill>
                <a:latin typeface="Aptos"/>
              </a:defRPr>
            </a:pPr>
            <a:r>
              <a:t>A message that looks like it came from a supervisor asks for an urgent gift-card purchase or confidential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73152" cy="1828800"/>
          </a:xfrm>
          <a:prstGeom prst="rect">
            <a:avLst/>
          </a:prstGeom>
          <a:solidFill>
            <a:srgbClr val="235BA0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12463"/>
            <a:ext cx="49103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Example C — Fake sign-in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169663"/>
            <a:ext cx="489204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3F"/>
                </a:solidFill>
                <a:latin typeface="Aptos"/>
              </a:defRPr>
            </a:pPr>
            <a:r>
              <a:t>A social-media message says “See who viewed your profile” and leads to a page that copies a familiar login screen.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73152" cy="1828800"/>
          </a:xfrm>
          <a:prstGeom prst="rect">
            <a:avLst/>
          </a:prstGeom>
          <a:solidFill>
            <a:srgbClr val="27875C"/>
          </a:solidFill>
          <a:ln>
            <a:solidFill>
              <a:srgbClr val="27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712463"/>
            <a:ext cx="49103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What should you do?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69663"/>
            <a:ext cx="4892040" cy="1115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6303F"/>
                </a:solidFill>
                <a:latin typeface="Aptos"/>
              </a:defRPr>
            </a:pPr>
            <a:r>
              <a:t>Do not click or reply. Check the request using the official app, known website or a separate trusted contact method.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0">
                <a:solidFill>
                  <a:srgbClr val="5C697A"/>
                </a:solidFill>
                <a:latin typeface="Aptos"/>
              </a:defRPr>
            </a:pPr>
            <a:r>
              <a:t>These are illustrative scenarios based on common phishing patterns, not claims about one specific incident.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Best practices: a safe-click routine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07 •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325880"/>
            <a:ext cx="502920" cy="502920"/>
          </a:xfrm>
          <a:prstGeom prst="ellipse">
            <a:avLst/>
          </a:prstGeom>
          <a:solidFill>
            <a:srgbClr val="C44343"/>
          </a:solidFill>
          <a:ln>
            <a:solidFill>
              <a:srgbClr val="C4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426464"/>
            <a:ext cx="23774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53312"/>
            <a:ext cx="1325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53312"/>
            <a:ext cx="7772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Don’t act just because a message sounds urgent.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EF9739"/>
          </a:solidFill>
          <a:ln>
            <a:solidFill>
              <a:srgbClr val="EF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295144"/>
            <a:ext cx="23774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21991"/>
            <a:ext cx="1325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21991"/>
            <a:ext cx="7772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Inspect the sender, domain, spelling and unexpected requests.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063239"/>
            <a:ext cx="502920" cy="502920"/>
          </a:xfrm>
          <a:prstGeom prst="ellipse">
            <a:avLst/>
          </a:prstGeom>
          <a:solidFill>
            <a:srgbClr val="235BA0"/>
          </a:solidFill>
          <a:ln>
            <a:solidFill>
              <a:srgbClr val="23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3163823"/>
            <a:ext cx="23774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90671"/>
            <a:ext cx="1325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90671"/>
            <a:ext cx="7772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Contact the person or organization using a known, separate channel.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4032504"/>
            <a:ext cx="23774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959352"/>
            <a:ext cx="1325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59352"/>
            <a:ext cx="7772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Use unique passwords, a password manager and multi-factor authentication.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27875C"/>
          </a:solidFill>
          <a:ln>
            <a:solidFill>
              <a:srgbClr val="27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901184"/>
            <a:ext cx="237744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828032"/>
            <a:ext cx="1325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340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828032"/>
            <a:ext cx="77724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26303F"/>
                </a:solidFill>
                <a:latin typeface="Aptos"/>
              </a:defRPr>
            </a:pPr>
            <a:r>
              <a:t>Report suspicious messages to your school, workplace or email provider.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0644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1">
                <a:solidFill>
                  <a:srgbClr val="C44343"/>
                </a:solidFill>
                <a:latin typeface="Aptos"/>
              </a:defRPr>
            </a:pPr>
            <a:r>
              <a:t>If you clicked by mistake: report it quickly, change the affected password from the official site, and contact your bank or IT support if relevant.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Quick quiz — what would you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08 • INTERACTIVE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44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44168"/>
            <a:ext cx="10241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340"/>
                </a:solidFill>
                <a:latin typeface="Aptos"/>
              </a:defRPr>
            </a:pPr>
            <a:r>
              <a:t>1. An email asks for your password and OTP to stop account closure. What is the safest action?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10195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3F"/>
                </a:solidFill>
                <a:latin typeface="Aptos"/>
              </a:defRPr>
            </a:pPr>
            <a:r>
              <a:t>A. Reply with the details     B. Click quickly     C. Do not share; verify through the official channel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744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10241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340"/>
                </a:solidFill>
                <a:latin typeface="Aptos"/>
              </a:defRPr>
            </a:pPr>
            <a:r>
              <a:t>2. A website has HTTPS but its domain spelling looks unusual. What does HTTPS prove?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10712"/>
            <a:ext cx="10195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3F"/>
                </a:solidFill>
                <a:latin typeface="Aptos"/>
              </a:defRPr>
            </a:pPr>
            <a:r>
              <a:t>A. The site is definitely real     B. The connection is encrypted, not that the site is genuine     C. It is approved by your bank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10744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44568"/>
            <a:ext cx="10241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340"/>
                </a:solidFill>
                <a:latin typeface="Aptos"/>
              </a:defRPr>
            </a:pPr>
            <a:r>
              <a:t>3. Your manager messages from a new number asking you to buy gift cards urgently. You should: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010912"/>
            <a:ext cx="101955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6303F"/>
                </a:solidFill>
                <a:latin typeface="Aptos"/>
              </a:defRPr>
            </a:pPr>
            <a:r>
              <a:t>A. Verify using a known contact method     B. Buy them immediately     C. Send the codes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10058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1">
                <a:solidFill>
                  <a:srgbClr val="009691"/>
                </a:solidFill>
                <a:latin typeface="Aptos"/>
              </a:defRPr>
            </a:pPr>
            <a:r>
              <a:t>Discuss your answers with a partner before moving to the answer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700" b="1">
                <a:solidFill>
                  <a:srgbClr val="132340"/>
                </a:solidFill>
                <a:latin typeface="Aptos"/>
              </a:defRPr>
            </a:pPr>
            <a:r>
              <a:t>Quiz answers &amp; if something goes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749808" cy="54864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411480"/>
            <a:ext cx="2240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1">
                <a:solidFill>
                  <a:srgbClr val="009691"/>
                </a:solidFill>
                <a:latin typeface="Aptos"/>
              </a:defRPr>
            </a:pPr>
            <a:r>
              <a:t>09 •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1">
                <a:solidFill>
                  <a:srgbClr val="5C69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1234440"/>
          </a:xfrm>
          <a:prstGeom prst="rect">
            <a:avLst/>
          </a:prstGeom>
          <a:solidFill>
            <a:srgbClr val="27875C"/>
          </a:solidFill>
          <a:ln>
            <a:solidFill>
              <a:srgbClr val="27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72184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Q1 —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29384"/>
            <a:ext cx="301752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Never share passwords or OTPs. Verify through the official channel.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27875C"/>
          </a:solidFill>
          <a:ln>
            <a:solidFill>
              <a:srgbClr val="27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72184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Q2 —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29384"/>
            <a:ext cx="301752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HTTPS protects the connection but cannot confirm a site’s honesty.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73152" cy="1234440"/>
          </a:xfrm>
          <a:prstGeom prst="rect">
            <a:avLst/>
          </a:prstGeom>
          <a:solidFill>
            <a:srgbClr val="27875C"/>
          </a:solidFill>
          <a:ln>
            <a:solidFill>
              <a:srgbClr val="27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472184"/>
            <a:ext cx="30358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340"/>
                </a:solidFill>
                <a:latin typeface="Aptos"/>
              </a:defRPr>
            </a:pPr>
            <a:r>
              <a:t>Q3 —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29384"/>
            <a:ext cx="3017520" cy="5212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6303F"/>
                </a:solidFill>
                <a:latin typeface="Aptos"/>
              </a:defRPr>
            </a:pPr>
            <a:r>
              <a:t>Confirm unusual money or data requests separately.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7180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000" b="1">
                <a:solidFill>
                  <a:srgbClr val="132340"/>
                </a:solidFill>
                <a:latin typeface="Aptos"/>
              </a:defRPr>
            </a:pPr>
            <a:r>
              <a:t>If you clicked or shared details: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10332720" cy="2286000"/>
          </a:xfrm>
          <a:prstGeom prst="rect">
            <a:avLst/>
          </a:prstGeom>
          <a:noFill/>
        </p:spPr>
        <p:txBody>
          <a:bodyPr wrap="square" lIns="45720" rIns="45720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•  Stop interacting with the message or website.</a:t>
            </a:r>
          </a:p>
          <a:p>
            <a:pPr>
              <a:spcAft>
                <a:spcPts val="7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•  Tell your teacher, IT/security team or the relevant service provider promptly.</a:t>
            </a:r>
          </a:p>
          <a:p>
            <a:pPr>
              <a:spcAft>
                <a:spcPts val="7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•  Change a compromised password using the official website; change it anywhere else it was reused.</a:t>
            </a:r>
          </a:p>
          <a:p>
            <a:pPr>
              <a:spcAft>
                <a:spcPts val="7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•  If payment details were shared, contact your bank using the number on its official card or website.</a:t>
            </a:r>
          </a:p>
          <a:p>
            <a:pPr>
              <a:spcAft>
                <a:spcPts val="7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•  Save the message for reporting, but do not forward the suspicious link to others.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THINK BEFORE YOU CLICK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40680" y="1920240"/>
            <a:ext cx="1280160" cy="64008"/>
          </a:xfrm>
          <a:prstGeom prst="rect">
            <a:avLst/>
          </a:prstGeom>
          <a:solidFill>
            <a:srgbClr val="009691"/>
          </a:solidFill>
          <a:ln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23160"/>
            <a:ext cx="94183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200" b="0">
                <a:solidFill>
                  <a:srgbClr val="DEE8F4"/>
                </a:solidFill>
                <a:latin typeface="Aptos"/>
              </a:defRPr>
            </a:pPr>
            <a:r>
              <a:t>A suspicious message is worth checking.</a:t>
            </a:r>
            <a:br/>
            <a:r>
              <a:t>A few seconds of caution can protect your account, money and personal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4297680"/>
            <a:ext cx="36576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2300" b="1">
                <a:solidFill>
                  <a:srgbClr val="7DDCD6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4983480"/>
            <a:ext cx="51206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Questions or examples to discuss?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6263640"/>
            <a:ext cx="5303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000" b="0">
                <a:solidFill>
                  <a:srgbClr val="BECCDC"/>
                </a:solidFill>
                <a:latin typeface="Aptos"/>
              </a:defRPr>
            </a:pPr>
            <a:r>
              <a:t>Phishing Awareness Training  •  Task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